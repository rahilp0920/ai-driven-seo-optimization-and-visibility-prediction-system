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23360" y="0"/>
            <a:ext cx="73152" cy="68580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194560" y="-1097280"/>
            <a:ext cx="2926080" cy="292608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C4899"/>
                </a:solidFill>
                <a:latin typeface="Inter"/>
              </a:rPr>
              <a:t>CIS 2450 · BIG DATA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32918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Inter"/>
              </a:rPr>
              <a:t>SEO Ranking
Predictor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7D2FE"/>
                </a:solidFill>
                <a:latin typeface="Inter"/>
              </a:rPr>
              <a:t>&amp; Recommendation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Rahil Patel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C7D2FE"/>
                </a:solidFill>
                <a:latin typeface="Inter"/>
              </a:rPr>
              <a:t>rahilp07@seas.upenn.edu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Ayush Tripathi</a:t>
            </a:r>
          </a:p>
          <a:p>
            <a:pPr algn="l"/>
            <a:r>
              <a:rPr sz="1100" b="0">
                <a:solidFill>
                  <a:srgbClr val="C7D2FE"/>
                </a:solidFill>
                <a:latin typeface="Inter"/>
              </a:rPr>
              <a:t>tripath1@seas.upenn.edu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7132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Inter"/>
              </a:rPr>
              <a:t>Predicting Google's top-10 for developer documentation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7132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Inter"/>
              </a:rPr>
              <a:t>and explaining every prediction.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788920"/>
            <a:ext cx="16916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 bIns="164592" wrap="square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94A3B8"/>
                </a:solidFill>
                <a:latin typeface="Inter"/>
              </a:rPr>
              <a:t>PAGES</a:t>
            </a:r>
          </a:p>
          <a:p>
            <a:pPr algn="l"/>
            <a:r>
              <a:rPr sz="2800" b="1">
                <a:solidFill>
                  <a:srgbClr val="3730A3"/>
                </a:solidFill>
                <a:latin typeface="Inter"/>
              </a:rPr>
              <a:t>1,297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28232" y="2788920"/>
            <a:ext cx="16916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 bIns="164592" wrap="square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94A3B8"/>
                </a:solidFill>
                <a:latin typeface="Inter"/>
              </a:rPr>
              <a:t>DOMAINS</a:t>
            </a:r>
          </a:p>
          <a:p>
            <a:pPr algn="l"/>
            <a:r>
              <a:rPr sz="2800" b="1">
                <a:solidFill>
                  <a:srgbClr val="3730A3"/>
                </a:solidFill>
                <a:latin typeface="Inter"/>
              </a:rPr>
              <a:t>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84464" y="2788920"/>
            <a:ext cx="16916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 bIns="164592" wrap="square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94A3B8"/>
                </a:solidFill>
                <a:latin typeface="Inter"/>
              </a:rPr>
              <a:t>FEATURES</a:t>
            </a:r>
          </a:p>
          <a:p>
            <a:pPr algn="l"/>
            <a:r>
              <a:rPr sz="2800" b="1">
                <a:solidFill>
                  <a:srgbClr val="3730A3"/>
                </a:solidFill>
                <a:latin typeface="Inter"/>
              </a:rPr>
              <a:t>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40696" y="2788920"/>
            <a:ext cx="16916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 bIns="164592" wrap="square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94A3B8"/>
                </a:solidFill>
                <a:latin typeface="Inter"/>
              </a:rPr>
              <a:t>MODELS</a:t>
            </a:r>
          </a:p>
          <a:p>
            <a:pPr algn="l"/>
            <a:r>
              <a:rPr sz="2800" b="1">
                <a:solidFill>
                  <a:srgbClr val="3730A3"/>
                </a:solidFill>
                <a:latin typeface="Inter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069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30A3"/>
                </a:solidFill>
                <a:latin typeface="Inter"/>
              </a:rPr>
              <a:t>Two distinct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069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Inter"/>
              </a:rPr>
              <a:t>scraped HTML + Google SERP rankings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30A3"/>
                </a:solidFill>
                <a:latin typeface="Inter"/>
              </a:rPr>
              <a:t>Five feature families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572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Inter"/>
              </a:rPr>
              <a:t>content, metadata, structural, TF-IDF, 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074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30A3"/>
                </a:solidFill>
                <a:latin typeface="Inter"/>
              </a:rPr>
              <a:t>Four-model sweep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5074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Inter"/>
              </a:rPr>
              <a:t>LR → Random Forest → XGBoost → MLP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577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30A3"/>
                </a:solidFill>
                <a:latin typeface="Inter"/>
              </a:rPr>
              <a:t>SHAP-driven recommendations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55778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Inter"/>
              </a:rPr>
              <a:t>concrete actions, not vague advice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Inter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Inter"/>
              </a:rPr>
              <a:t>Search ranking is opaque · the inputs are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Inter"/>
              </a:rPr>
              <a:t>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SEO Ranking Predictor · CIS 2450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Inter"/>
              </a:rPr>
              <a:t>Documentation authors get no feedback loop on what makes a page rank. We close that loop by treating SERP placement as a supervised-learning problem over observable page signals.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365760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320040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Inter"/>
              </a:rPr>
              <a:t>Observable 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3108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Inter"/>
              </a:rPr>
              <a:t>Content length, heading structure, keyword placement, internal linking, link-graph authority — all measurable per page.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926080"/>
            <a:ext cx="365760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0" y="320040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8862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Inter"/>
              </a:rPr>
              <a:t>Binary 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389120"/>
            <a:ext cx="3108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Inter"/>
              </a:rPr>
              <a:t>`is_top_10` for the topic query derived from each page's &lt;title&gt;. F1 + PR-AUC (imbalance-aware) as the headline metric.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926080"/>
            <a:ext cx="365760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0" y="320040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8862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Inter"/>
              </a:rPr>
              <a:t>Explainable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389120"/>
            <a:ext cx="3108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Inter"/>
              </a:rPr>
              <a:t>SHAP attribution per prediction → a recommendation engine that tells the author what to change, not just whether they'll rank.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Inter"/>
              </a:rP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Inter"/>
              </a:rPr>
              <a:t>Two distinct sources, joined per-page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Inter"/>
              </a:rPr>
              <a:t>3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SEO Ranking Predictor · CIS 2450 Final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39496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Source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Inter"/>
              </a:rPr>
              <a:t>Developer-documentation 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Inter"/>
              </a:rPr>
              <a:t>Async crawler · robots.txt-aware · 1 req/s per domain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F172A"/>
                </a:solidFill>
                <a:latin typeface="Inter"/>
              </a:rPr>
              <a:t>docs.python.org · developer.mozilla.org · react.dev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Inter"/>
              </a:rPr>
              <a:t>nodejs.org · kubernetes.io · fastapi.tiangolo.com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Inter"/>
              </a:rPr>
              <a:t>Each page → HTML + JSON sidecar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(URL · fetch_ts · title · outbound_links)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39496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103120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Source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46888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Inter"/>
              </a:rPr>
              <a:t>Google SERP rankings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9260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Inter"/>
              </a:rPr>
              <a:t>Brave Search API (free tier) · SerpApi fallback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F172A"/>
                </a:solidFill>
                <a:latin typeface="Inter"/>
              </a:rPr>
              <a:t>One topic query per page → top-10 organic results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Inter"/>
              </a:rPr>
              <a:t>Query derived from &lt;title&gt; via boilerplate strip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`is_top_10` = page's own URL appears in its top-10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48640" y="4434840"/>
            <a:ext cx="11064240" cy="502920"/>
          </a:xfrm>
          <a:prstGeom prst="rightArrow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JOIN ON  host + path.lower()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12080"/>
            <a:ext cx="11064240" cy="10058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28600" tIns="164592" bIns="164592" wrap="square"/>
          <a:lstStyle/>
          <a:p>
            <a:pPr algn="l"/>
            <a:r>
              <a:rPr sz="1300" b="0">
                <a:solidFill>
                  <a:srgbClr val="0F172A"/>
                </a:solidFill>
                <a:latin typeface="Inter"/>
              </a:rPr>
              <a:t>Per CIS 2450 TA Ricky Gong's 2026-03-29 email, scope was narrowed from 50K rows to ~1.3K developer-doc pages — free-tier SERP rate-limits made full-scale infeasible inside the deadline. Sanctioned, documented in data/README.md.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12080"/>
            <a:ext cx="54864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Inter"/>
              </a:rPr>
              <a:t>FEATURE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Inter"/>
              </a:rPr>
              <a:t>72 numeric features across five 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Inter"/>
              </a:rPr>
              <a:t>4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SEO Ranking Predictor · CIS 2450 Final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2081174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2081174" cy="164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194559"/>
            <a:ext cx="175199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Inter"/>
              </a:rPr>
              <a:t>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560319"/>
            <a:ext cx="175199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4F46E5"/>
                </a:solidFill>
                <a:latin typeface="Inter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200399"/>
            <a:ext cx="175199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columns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566159"/>
            <a:ext cx="175199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JetBrains Mono"/>
              </a:rPr>
              <a:t>text_length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JetBrains Mono"/>
              </a:rPr>
              <a:t>word_count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JetBrains Mono"/>
              </a:rPr>
              <a:t>sentence_count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JetBrains Mono"/>
              </a:rPr>
              <a:t>flesch_reading_ease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JetBrains Mono"/>
              </a:rPr>
              <a:t>keyword_density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4406" y="1874519"/>
            <a:ext cx="2081174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4406" y="1874519"/>
            <a:ext cx="2081174" cy="164592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8998" y="2194559"/>
            <a:ext cx="175199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Inter"/>
              </a:rPr>
              <a:t>Metadata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8998" y="2560319"/>
            <a:ext cx="175199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C4899"/>
                </a:solidFill>
                <a:latin typeface="Inter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8998" y="3200399"/>
            <a:ext cx="175199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columns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8998" y="3566159"/>
            <a:ext cx="175199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JetBrains Mono"/>
              </a:rPr>
              <a:t>title_length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JetBrains Mono"/>
              </a:rPr>
              <a:t>has_meta_description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JetBrains Mono"/>
              </a:rPr>
              <a:t>meta_description_length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JetBrains Mono"/>
              </a:rPr>
              <a:t>keyword_in_title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0172" y="1874519"/>
            <a:ext cx="2081174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0172" y="1874519"/>
            <a:ext cx="2081174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04764" y="2194559"/>
            <a:ext cx="175199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Inter"/>
              </a:rPr>
              <a:t>Structural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4764" y="2560319"/>
            <a:ext cx="175199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0B981"/>
                </a:solidFill>
                <a:latin typeface="Inter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4764" y="3200399"/>
            <a:ext cx="175199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columns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4764" y="3566159"/>
            <a:ext cx="175199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JetBrains Mono"/>
              </a:rPr>
              <a:t>h1_count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JetBrains Mono"/>
              </a:rPr>
              <a:t>h2_count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JetBrains Mono"/>
              </a:rPr>
              <a:t>h3_count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JetBrains Mono"/>
              </a:rPr>
              <a:t>internal_link_count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JetBrains Mono"/>
              </a:rPr>
              <a:t>external_link_count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JetBrains Mono"/>
              </a:rPr>
              <a:t>image_count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JetBrains Mono"/>
              </a:rPr>
              <a:t>alt_text_coverage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85939" y="1874519"/>
            <a:ext cx="2081174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85939" y="1874519"/>
            <a:ext cx="2081174" cy="16459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0531" y="2194559"/>
            <a:ext cx="175199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Inter"/>
              </a:rPr>
              <a:t>TF-IDF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0531" y="2560319"/>
            <a:ext cx="175199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3730A3"/>
                </a:solidFill>
                <a:latin typeface="Inter"/>
              </a:rPr>
              <a:t>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0531" y="3200399"/>
            <a:ext cx="175199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columns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0531" y="3566159"/>
            <a:ext cx="175199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JetBrains Mono"/>
              </a:rPr>
              <a:t>corpus-fitted top-50 terms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JetBrains Mono"/>
              </a:rPr>
              <a:t>ngram_range = (1, 2)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JetBrains Mono"/>
              </a:rPr>
              <a:t>stop_words = english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31705" y="1874519"/>
            <a:ext cx="2081174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1705" y="1874519"/>
            <a:ext cx="2081174" cy="164592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6297" y="2194559"/>
            <a:ext cx="175199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Inter"/>
              </a:rPr>
              <a:t>Graph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6297" y="2560319"/>
            <a:ext cx="175199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C4899"/>
                </a:solidFill>
                <a:latin typeface="Inter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6297" y="3200399"/>
            <a:ext cx="175199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columns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6297" y="3566159"/>
            <a:ext cx="175199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JetBrains Mono"/>
              </a:rPr>
              <a:t>pagerank (α=0.85)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JetBrains Mono"/>
              </a:rPr>
              <a:t>hits_hub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JetBrains Mono"/>
              </a:rPr>
              <a:t>hits_authority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JetBrains Mono"/>
              </a:rPr>
              <a:t>in_degree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JetBrains Mono"/>
              </a:rPr>
              <a:t>out_degree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JetBrains Mono"/>
              </a:rPr>
              <a:t>clustering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89788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28600" tIns="164592" bIns="164592" wrap="square"/>
          <a:lstStyle/>
          <a:p>
            <a:pPr algn="l"/>
            <a:r>
              <a:rPr sz="1300" b="0">
                <a:solidFill>
                  <a:srgbClr val="0F172A"/>
                </a:solidFill>
                <a:latin typeface="Inter"/>
              </a:rPr>
              <a:t>All five families are joined per-page on the host+path key into data/processed/features.csv — shared across every model and the dashboard.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897880"/>
            <a:ext cx="54864" cy="7772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Inter"/>
              </a:rPr>
              <a:t>EDA ·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Inter"/>
              </a:rPr>
              <a:t>Class balance and feature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Inter"/>
              </a:rPr>
              <a:t>5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SEO Ranking Predictor · CIS 2450 Final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class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993392"/>
            <a:ext cx="5157216" cy="351129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63640" y="1828800"/>
            <a:ext cx="548640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_top_correl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993392"/>
            <a:ext cx="5157216" cy="35112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80644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  <a:latin typeface="Inter"/>
              </a:rPr>
              <a:t>Class parity after oversampling</a:t>
            </a:r>
          </a:p>
          <a:p>
            <a:pPr algn="l"/>
            <a:r>
              <a:rPr sz="1200" b="0">
                <a:solidFill>
                  <a:srgbClr val="475569"/>
                </a:solidFill>
                <a:latin typeface="Inter"/>
              </a:rPr>
              <a:t>Minority-class oversampling brought the corpus to a 50/50 split. PR-AUC stays the headline metric — both classes are equally important.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580644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  <a:latin typeface="Inter"/>
              </a:rPr>
              <a:t>Strongest signals are structural</a:t>
            </a:r>
          </a:p>
          <a:p>
            <a:pPr algn="l"/>
            <a:r>
              <a:rPr sz="1200" b="0">
                <a:solidFill>
                  <a:srgbClr val="475569"/>
                </a:solidFill>
                <a:latin typeface="Inter"/>
              </a:rPr>
              <a:t>Heading counts, internal links, and graph centrality (PageRank, HITS) lead the correlation ranking — content length on its own is weaker than expected.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Inter"/>
              </a:rPr>
              <a:t>EDA ·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Inter"/>
              </a:rPr>
              <a:t>Where the classes diverge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Inter"/>
              </a:rPr>
              <a:t>6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SEO Ranking Predictor · CIS 2450 Final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title_leng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993392"/>
            <a:ext cx="5157216" cy="28712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63640" y="1828800"/>
            <a:ext cx="54864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_h2_c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993392"/>
            <a:ext cx="5157216" cy="287121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8640" y="5166360"/>
            <a:ext cx="1120140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_domain_break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330952"/>
            <a:ext cx="10872216" cy="11338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Inter"/>
              </a:rPr>
              <a:t>LINK-GRAPH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Inter"/>
              </a:rPr>
              <a:t>PageRank · HITS ·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Inter"/>
              </a:rPr>
              <a:t>7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SEO Ranking Predictor · CIS 2450 Final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_pagerank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993392"/>
            <a:ext cx="5157216" cy="29626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63640" y="1828800"/>
            <a:ext cx="548640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7_hits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993392"/>
            <a:ext cx="5157216" cy="296265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8640" y="5349240"/>
            <a:ext cx="36576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349240"/>
            <a:ext cx="54864" cy="13258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513832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F46E5"/>
                </a:solidFill>
                <a:latin typeface="Inter"/>
              </a:rPr>
              <a:t>PageRank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43600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Inter"/>
              </a:rPr>
              <a:t>Stationary distribution · α = 0.85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5349240"/>
            <a:ext cx="36576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5968" y="5349240"/>
            <a:ext cx="54864" cy="132588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5513832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C4899"/>
                </a:solidFill>
                <a:latin typeface="Inter"/>
              </a:rPr>
              <a:t>HITS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5943600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Inter"/>
              </a:rPr>
              <a:t>Hub vs authority · Kleinberg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5349240"/>
            <a:ext cx="36576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5349240"/>
            <a:ext cx="54864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1896" y="5513832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Inter"/>
              </a:rPr>
              <a:t>Clustering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5943600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Inter"/>
              </a:rPr>
              <a:t>Local triangle density per node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Inter"/>
              </a:rPr>
              <a:t>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Inter"/>
              </a:rPr>
              <a:t>Baseline → advanced · four-model progression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Inter"/>
              </a:rPr>
              <a:t>8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SEO Ranking Predictor · CIS 2450 Final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26060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4F46E5"/>
                </a:solidFill>
                <a:latin typeface="Inter"/>
              </a:rPr>
              <a:t>LR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Inter"/>
              </a:rPr>
              <a:t>Logistic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Inter"/>
              </a:rPr>
              <a:t>Linear baseline · L1 / L2 swept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00400" y="2926080"/>
            <a:ext cx="182880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3280" y="1920240"/>
            <a:ext cx="26060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10312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EC4899"/>
                </a:solidFill>
                <a:latin typeface="Inter"/>
              </a:rPr>
              <a:t>RF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78892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Inter"/>
              </a:rPr>
              <a:t>Random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24612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Inter"/>
              </a:rPr>
              <a:t>Bagging · n_est, depth, leaf swept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35040" y="2926080"/>
            <a:ext cx="182880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920240"/>
            <a:ext cx="26060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10312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3730A3"/>
                </a:solidFill>
                <a:latin typeface="Inter"/>
              </a:rPr>
              <a:t>XGB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78892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Inter"/>
              </a:rPr>
              <a:t>XGBoost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4612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Inter"/>
              </a:rPr>
              <a:t>Boosting · η, depth, subsample swept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869680" y="2926080"/>
            <a:ext cx="182880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0" y="1920240"/>
            <a:ext cx="26060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10312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0B981"/>
                </a:solidFill>
                <a:latin typeface="Inter"/>
              </a:rPr>
              <a:t>MLP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78892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Inter"/>
              </a:rPr>
              <a:t>PyTorch MLP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24612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Inter"/>
              </a:rPr>
              <a:t>2-layer · dropout · batch-norm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43484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66344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730A3"/>
                </a:solidFill>
                <a:latin typeface="Inter"/>
              </a:rPr>
              <a:t>Hyperparameter tuning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212080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Inter"/>
              </a:rPr>
              <a:t>RandomizedSearchCV · 30 iter / model · loguniform priors on continuous knobs · integer ranges on tree depths.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0832" y="443484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5152" y="466344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730A3"/>
                </a:solidFill>
                <a:latin typeface="Inter"/>
              </a:rPr>
              <a:t>Cross-validation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2" y="5212080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Inter"/>
              </a:rPr>
              <a:t>Shared StratifiedKFold(n=5, seed=42) across all four models — comparison-table numbers are apples-to-apples.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93024" y="443484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67344" y="466344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730A3"/>
                </a:solidFill>
                <a:latin typeface="Inter"/>
              </a:rPr>
              <a:t>Imbalance handling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7344" y="5212080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Inter"/>
              </a:rPr>
              <a:t>class_weight='balanced' (LR/RF) · scale_pos_weight (XGB) · minority oversampling to class parity for the augmented pass.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Inter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Inter"/>
              </a:rPr>
              <a:t>Held-out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Inter"/>
              </a:rPr>
              <a:t>9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SEO Ranking Predictor · CIS 2450 Final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73152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993392"/>
            <a:ext cx="6986016" cy="37856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82880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96596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C4899"/>
                </a:solidFill>
                <a:latin typeface="Inter"/>
              </a:rPr>
              <a:t>WINNER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24028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nter"/>
              </a:rPr>
              <a:t>random_forest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74320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7D2FE"/>
                </a:solidFill>
                <a:latin typeface="Inter"/>
              </a:rPr>
              <a:t>F1 = 0.902 · ROC-AUC = 0.956 · PR-AUC = 0.949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520440"/>
            <a:ext cx="10820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3611880"/>
            <a:ext cx="80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94A3B8"/>
                </a:solidFill>
                <a:latin typeface="Inter"/>
              </a:rPr>
              <a:t>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849624"/>
            <a:ext cx="80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F46E5"/>
                </a:solidFill>
                <a:latin typeface="Inter"/>
              </a:rPr>
              <a:t>0.90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48800" y="3520440"/>
            <a:ext cx="10820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85960" y="3611880"/>
            <a:ext cx="80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94A3B8"/>
                </a:solidFill>
                <a:latin typeface="Inter"/>
              </a:rPr>
              <a:t>ROC-AUC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85960" y="3849624"/>
            <a:ext cx="80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EC4899"/>
                </a:solidFill>
                <a:latin typeface="Inter"/>
              </a:rPr>
              <a:t>0.96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622280" y="3520440"/>
            <a:ext cx="10820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59440" y="3611880"/>
            <a:ext cx="80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94A3B8"/>
                </a:solidFill>
                <a:latin typeface="Inter"/>
              </a:rPr>
              <a:t>PR-AUC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59440" y="3849624"/>
            <a:ext cx="80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0B981"/>
                </a:solidFill>
                <a:latin typeface="Inter"/>
              </a:rPr>
              <a:t>0.95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4526280"/>
            <a:ext cx="36118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9_confusion_random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4690872"/>
            <a:ext cx="3282696" cy="15453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Inter"/>
              </a:rPr>
              <a:t>DASHBOARD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Inter"/>
              </a:rPr>
              <a:t>Seven tabs · live URL · SHAP-driven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Inter"/>
              </a:rPr>
              <a:t>10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SEO Ranking Predictor · CIS 2450 Final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6858000" cy="46177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993392"/>
            <a:ext cx="1828800" cy="4288536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C4899"/>
                </a:solidFill>
                <a:latin typeface="Inter"/>
              </a:rPr>
              <a:t>SEO RANKING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PREDICTOR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17520"/>
            <a:ext cx="1691640" cy="292608"/>
          </a:xfrm>
          <a:prstGeom prst="roundRect">
            <a:avLst>
              <a:gd name="adj" fmla="val 4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182880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Predict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01568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7D2FE"/>
                </a:solidFill>
                <a:latin typeface="Inter"/>
              </a:rPr>
              <a:t>EDA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85616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7D2FE"/>
                </a:solidFill>
                <a:latin typeface="Inter"/>
              </a:rPr>
              <a:t>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169664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7D2FE"/>
                </a:solidFill>
                <a:latin typeface="Inter"/>
              </a:rPr>
              <a:t>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553712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7D2FE"/>
                </a:solidFill>
                <a:latin typeface="Inter"/>
              </a:rPr>
              <a:t>Recommendations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937760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7D2FE"/>
                </a:solidFill>
                <a:latin typeface="Inter"/>
              </a:rPr>
              <a:t>What-if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321808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7D2FE"/>
                </a:solidFill>
                <a:latin typeface="Inter"/>
              </a:rPr>
              <a:t>About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2194560"/>
            <a:ext cx="4526280" cy="777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2331720"/>
            <a:ext cx="4069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"/>
              </a:rPr>
              <a:t>docs.python.org / library / asyncio.html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3200400"/>
            <a:ext cx="1386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52928" y="3291840"/>
            <a:ext cx="11673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Inter"/>
              </a:rPr>
              <a:t>XGBOOST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3493008"/>
            <a:ext cx="11673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Inter"/>
              </a:rPr>
              <a:t>67.2%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67200" y="3200400"/>
            <a:ext cx="1386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76928" y="3291840"/>
            <a:ext cx="11673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Inter"/>
              </a:rPr>
              <a:t>RANDOM FOREST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6928" y="3493008"/>
            <a:ext cx="11673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Inter"/>
              </a:rPr>
              <a:t>58.4%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91200" y="3200400"/>
            <a:ext cx="1386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00928" y="3291840"/>
            <a:ext cx="11673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Inter"/>
              </a:rPr>
              <a:t>LOGISTIC REG.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0928" y="3493008"/>
            <a:ext cx="11673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Inter"/>
              </a:rPr>
              <a:t>61.1%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4434840"/>
            <a:ext cx="4434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Per-prediction SHAP attribution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80060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7D2FE"/>
                </a:solidFill>
                <a:latin typeface="JetBrains Mono"/>
              </a:rPr>
              <a:t>h2_count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0" y="4864608"/>
            <a:ext cx="2880360" cy="12801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646420" y="4864608"/>
            <a:ext cx="1123340" cy="12801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0" y="5093208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7D2FE"/>
                </a:solidFill>
                <a:latin typeface="JetBrains Mono"/>
              </a:rPr>
              <a:t>title_length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06240" y="5157216"/>
            <a:ext cx="2880360" cy="12801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46420" y="5157216"/>
            <a:ext cx="648081" cy="12801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0" y="5385816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7D2FE"/>
                </a:solidFill>
                <a:latin typeface="JetBrains Mono"/>
              </a:rPr>
              <a:t>keyword_density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06240" y="5449824"/>
            <a:ext cx="2880360" cy="12801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185562" y="5449824"/>
            <a:ext cx="460857" cy="12801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0" y="5678424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7D2FE"/>
                </a:solidFill>
                <a:latin typeface="JetBrains Mono"/>
              </a:rPr>
              <a:t>pagerank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06240" y="5742432"/>
            <a:ext cx="2880360" cy="12801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646420" y="5742432"/>
            <a:ext cx="792099" cy="12801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0" y="597103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7D2FE"/>
                </a:solidFill>
                <a:latin typeface="JetBrains Mono"/>
              </a:rPr>
              <a:t>internal_link_count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06240" y="6035040"/>
            <a:ext cx="2880360" cy="12801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387187" y="6035040"/>
            <a:ext cx="259232" cy="12801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0" y="1828800"/>
            <a:ext cx="4069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730A3"/>
                </a:solidFill>
                <a:latin typeface="Inter"/>
              </a:rPr>
              <a:t>What the dashboard does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80960" y="2331720"/>
            <a:ext cx="941832" cy="29260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Predict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2660904"/>
            <a:ext cx="4069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Inter"/>
              </a:rPr>
              <a:t>Live URL → top-10 probability per loaded model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80960" y="29718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EDA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3300984"/>
            <a:ext cx="4069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Inter"/>
              </a:rPr>
              <a:t>Class balance · correlations · distribution explorer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680960" y="36118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Graph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0" y="3941064"/>
            <a:ext cx="4069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Inter"/>
              </a:rPr>
              <a:t>PageRank · HITS scatter · URL hierarchy network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680960" y="42519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Models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80960" y="4581144"/>
            <a:ext cx="4069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Inter"/>
              </a:rPr>
              <a:t>Metrics table · ROC + PR curves · confusion matrices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680960" y="489204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Recommendations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5221224"/>
            <a:ext cx="4069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Inter"/>
              </a:rPr>
              <a:t>Hybrid rule + SHAP-ranked actions per page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680960" y="5532120"/>
            <a:ext cx="941832" cy="292608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What-if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80960" y="5861304"/>
            <a:ext cx="4069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Inter"/>
              </a:rPr>
              <a:t>Slider counterfactuals · live probability deltas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Inter"/>
              </a:rPr>
              <a:t>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Inter"/>
              </a:rPr>
              <a:t>What the model actually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Inter"/>
              </a:rPr>
              <a:t>11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SEO Ranking Predictor · CIS 2450 Final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365760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4F46E5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Inter"/>
              </a:rPr>
              <a:t>Structure beats length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310896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Inter"/>
              </a:rPr>
              <a:t>Heading-count and link-graph features outrank raw word count in the importance ranking. Authors should optimise H2 / H3 structure before pushing for longer pages.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920240"/>
            <a:ext cx="365760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1031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4F46E5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8803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Inter"/>
              </a:rPr>
              <a:t>Authority is observable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474720"/>
            <a:ext cx="310896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Inter"/>
              </a:rPr>
              <a:t>PageRank and HITS authority correlate with `is_top_10` more strongly than any single content feature. Internal-link topology — what we already control on our own site — is actionable signal.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024" y="1920240"/>
            <a:ext cx="365760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7344" y="210312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4F46E5"/>
                </a:solidFill>
                <a:latin typeface="Inter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28803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Inter"/>
              </a:rPr>
              <a:t>Title craft is high-leverage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3474720"/>
            <a:ext cx="310896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Inter"/>
              </a:rPr>
              <a:t>Both `keyword_in_title` and `title_length` show clean class separation. The What-if simulator confirms: changing title length by ±15 chars moves predicted probability by 6-12 pts.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40680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28600" tIns="164592" bIns="164592" wrap="square"/>
          <a:lstStyle/>
          <a:p>
            <a:pPr algn="l"/>
            <a:r>
              <a:rPr sz="1300" b="0">
                <a:solidFill>
                  <a:srgbClr val="0F172A"/>
                </a:solidFill>
                <a:latin typeface="Inter"/>
              </a:rPr>
              <a:t>Practical implication: the recommendation engine prioritises structural fixes (heading counts, alt-text coverage, internal-link distribution) ahead of content rewrites — lower edit cost, higher predicted lift.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40680"/>
            <a:ext cx="54864" cy="1188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Inter"/>
              </a:rPr>
              <a:t>CHALLENGES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Inter"/>
              </a:rPr>
              <a:t>What we'd ship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Inter"/>
              </a:rPr>
              <a:t>12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SEO Ranking Predictor · CIS 2450 Final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1188719" cy="29260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No source-reputation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4937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Inter"/>
              </a:rPr>
              <a:t>We score the page itself — text, structure, link topology — not the domain's editorial authority. docs.python.org and a personal blog with the same heading layout score equally; real Google ranking weighs reputation heavily.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Free-tier API limits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4937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Inter"/>
              </a:rPr>
              <a:t>Brave Search caps at ~2K queries/month — bounded the corpus to ~1.3K pages.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Live URLs lack graph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92040"/>
            <a:ext cx="4937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Inter"/>
              </a:rPr>
              <a:t>Page isn't in the training graph; we median-fill its graph features rather than zero-fill (zero biases predictions down).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4864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Title-derived queries can mislead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52160"/>
            <a:ext cx="4937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Inter"/>
              </a:rPr>
              <a:t>Some &lt;title&gt; tags are version numbers or 'Overview'. The dashboard exposes a manual query override for evaluation.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828800"/>
            <a:ext cx="548640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37960" y="2103120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Future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60604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Domain-authority feature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971800"/>
            <a:ext cx="4937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Inter"/>
              </a:rPr>
              <a:t>Augment the matrix with an external authority signal (Tranco rank, Majestic Trust Flow) so the model can distinguish official-docs from third-party content — directly addresses the reputation gap.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5661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Per-domain calibrated thresholds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31920"/>
            <a:ext cx="4937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Inter"/>
              </a:rPr>
              <a:t>0.5 cutoff is naive — real SERPs differ in expected positive rate per domain. Platt / isotonic on a held-out validation slice per host.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5262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Recommendation A/B harness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892040"/>
            <a:ext cx="4937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Inter"/>
              </a:rPr>
              <a:t>Apply a recommended change to a copy of a page, re-scrape, compare actual rank movement against predicted lift — closes the loop on causal vs correlated.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4864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Cross-engine generalisation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5852160"/>
            <a:ext cx="4937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Inter"/>
              </a:rPr>
              <a:t>Today: Google via Brave / SerpApi. Add Bing / DuckDuckGo labels — does the same model rank well across engines?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C4899"/>
                </a:solidFill>
                <a:latin typeface="Inter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0" b="1">
                <a:solidFill>
                  <a:srgbClr val="FFFFFF"/>
                </a:solidFill>
                <a:latin typeface="Inter"/>
              </a:rPr>
              <a:t>Thank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7D2FE"/>
                </a:solidFill>
                <a:latin typeface="Inter"/>
              </a:rPr>
              <a:t>SEO Ranking Predictor · CIS 2450 Final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7D2FE"/>
                </a:solidFill>
                <a:latin typeface="Inter"/>
              </a:rPr>
              <a:t>Rahil Patel  ·  Ayush Tripathi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